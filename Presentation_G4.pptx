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450"/>
    <p:restoredTop sz="96327"/>
  </p:normalViewPr>
  <p:slideViewPr>
    <p:cSldViewPr snapToGrid="0">
      <p:cViewPr varScale="1">
        <p:scale>
          <a:sx n="98" d="100"/>
          <a:sy n="98" d="100"/>
        </p:scale>
        <p:origin x="78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B3FFA-9F02-70A8-5935-EA55507045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7E7D8F-4BAE-335F-FEA1-083A9061F1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2F87D-EAF8-CFD2-7C93-3ECFF282E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8789F-F040-1246-9F38-E63023A0164B}" type="datetimeFigureOut"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3CEAA-B4BB-5755-37CE-410A5AD3A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E571A1-5EA4-4D4A-EC78-D19B2B9F8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8C03-D10A-AE46-9567-8D9AA2376AB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255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8BB47-DC38-C53B-324F-0052A6189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B601B-FEAB-6F07-699C-43D30BDC8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117D95-076A-509C-280D-F93A85807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8789F-F040-1246-9F38-E63023A0164B}" type="datetimeFigureOut"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4D5A2-DB93-EA52-0D23-03E936B4C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014AE-44DE-5FE0-626F-B81732898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8C03-D10A-AE46-9567-8D9AA2376AB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807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14B77-6F74-65CC-BE7C-11BA2EB54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A04AF-5DE2-60CC-E838-B850D8C39E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F9A3DC-7600-CC0E-480B-5CE94A510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8789F-F040-1246-9F38-E63023A0164B}" type="datetimeFigureOut"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FEF8F-0B05-894E-7CD8-37762C438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BE3266-ADB7-12CC-305F-CC63D4CC2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8C03-D10A-AE46-9567-8D9AA2376AB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636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4C0DE-C250-94F6-61B7-7FCEB313C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0DE6-D4CA-BC37-8F2D-0CF64A8485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9D92E-7111-94F3-3A2C-EEBED7436F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1A7C6-BF2A-A2C8-A324-E54FB5DE8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8789F-F040-1246-9F38-E63023A0164B}" type="datetimeFigureOut"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7B1E38-25CC-4147-F7CA-DE57BEE2B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333BB0-0C08-B7B1-6E4E-9533A87B9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8C03-D10A-AE46-9567-8D9AA2376AB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431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A4C27-0E99-13D3-1F20-9EE9FF555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E4ACDA-EF9B-6EE2-7E6C-62413D645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C9FA92-EA4E-D25A-8493-8F851BCE20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D14206-608A-B67F-AEF9-409EF12860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E9BFB6-4A8A-5019-DF4B-408698256E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D1CDFC-434A-77D6-2D78-76BB0FDEE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8789F-F040-1246-9F38-E63023A0164B}" type="datetimeFigureOut">
              <a:t>4/10/2026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6CD92E-A0C4-8C1C-C098-C40CA04BD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54D838-93E8-4F0E-A86F-C9CCDA51D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8C03-D10A-AE46-9567-8D9AA2376AB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080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AC4A9-B5A7-5776-701F-5B1ED8D7A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2CF0B0-41AA-EF44-2572-1BA299A99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8789F-F040-1246-9F38-E63023A0164B}" type="datetimeFigureOut">
              <a:t>4/10/2026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33E865-4BCA-8176-6EA6-F11461672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2202B0-3849-C411-20CF-32CF8E69C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8C03-D10A-AE46-9567-8D9AA2376AB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573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C31A51-9F5B-A921-C2DB-2449624EA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8789F-F040-1246-9F38-E63023A0164B}" type="datetimeFigureOut">
              <a:t>4/10/2026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AF4711-3F04-032F-0E47-078A5B36C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11763E-D80E-822D-6301-EAB0AD225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8C03-D10A-AE46-9567-8D9AA2376AB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459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8CB82-14A4-6ECE-7088-FEB916194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5CCAB-A27C-A582-6E2E-79BFB69AD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DA629A-0503-6472-DF1A-2F4BD778A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10525E-2715-AC42-8779-E3BA76B31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8789F-F040-1246-9F38-E63023A0164B}" type="datetimeFigureOut"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0CE0A7-CC95-AE88-30B4-8F6D4D73F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0B533D-F934-BC8A-88ED-9F5111442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8C03-D10A-AE46-9567-8D9AA2376AB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079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C8CF2-A9D5-ED44-ADAC-8A9E3B982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E80209-C613-A05E-28A4-A2033512A6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5348F9-84D4-DF48-7269-4CAE239581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9EE019-A8D7-0AF9-5CC9-46754E441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8789F-F040-1246-9F38-E63023A0164B}" type="datetimeFigureOut"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3E842A-780D-8B7D-AA9E-FAFCB4783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0BECFD-8610-A919-4486-309C0DE24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8C03-D10A-AE46-9567-8D9AA2376AB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32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6454D-0FD0-E6FD-B694-94C527471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0F5151-DFA1-EB02-79D7-F918F0571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832DC-5F45-1CFB-47DE-864EDC0BA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8789F-F040-1246-9F38-E63023A0164B}" type="datetimeFigureOut"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B29A7-72D6-3AA3-9248-6D43E7539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8FA1B0-7C09-17BE-29EB-8B5457A12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8C03-D10A-AE46-9567-8D9AA2376AB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990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AC4DBF-4346-3FD5-56C0-D5B91335FE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88E405-D466-2DB0-3E60-87019F0157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1AD517-D8A5-BD9E-7C37-81E0F5B50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8789F-F040-1246-9F38-E63023A0164B}" type="datetimeFigureOut"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DA8B5-E488-6FD9-319C-6D0E67F05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BEB2B-0E8B-B65B-2282-0BE965868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28C03-D10A-AE46-9567-8D9AA2376AB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708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084688-AE71-6643-D7D8-CDB12DFF0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9FB24-129D-2B60-6622-DB3027A12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0A4EB-3F42-3F47-39F6-5F649E15E7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8789F-F040-1246-9F38-E63023A0164B}" type="datetimeFigureOut"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06D9EB-C59A-91EE-4634-49E1126C4E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8CA25-DA9C-0CF9-BF0A-EF7C55C2D3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C28C03-D10A-AE46-9567-8D9AA2376AB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901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12072-214B-34B9-0483-263E7F504A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IRON KAGGLE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BCBB67-62C0-A220-9432-762B0C346E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Group G4 </a:t>
            </a:r>
          </a:p>
          <a:p>
            <a:r>
              <a:rPr lang="en-US" dirty="0" err="1"/>
              <a:t>Sabeur</a:t>
            </a:r>
            <a:r>
              <a:rPr lang="en-US" dirty="0"/>
              <a:t> &amp; Sara</a:t>
            </a:r>
          </a:p>
        </p:txBody>
      </p:sp>
    </p:spTree>
    <p:extLst>
      <p:ext uri="{BB962C8B-B14F-4D97-AF65-F5344CB8AC3E}">
        <p14:creationId xmlns:p14="http://schemas.microsoft.com/office/powerpoint/2010/main" val="2735999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A9FFF-7619-CB38-0666-4D203EF0F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357D3-F47B-4B40-495D-B5DA98634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048337" cy="4351338"/>
          </a:xfrm>
        </p:spPr>
        <p:txBody>
          <a:bodyPr>
            <a:noAutofit/>
          </a:bodyPr>
          <a:lstStyle/>
          <a:p>
            <a:r>
              <a:rPr lang="en-US" sz="2000" b="1" dirty="0"/>
              <a:t>Best model: </a:t>
            </a:r>
            <a:r>
              <a:rPr lang="en-US" sz="2000" b="1" dirty="0" err="1"/>
              <a:t>XGBoost</a:t>
            </a:r>
            <a:endParaRPr lang="en-US" sz="2000" b="1" dirty="0"/>
          </a:p>
          <a:p>
            <a:r>
              <a:rPr lang="en-US" sz="2000" dirty="0"/>
              <a:t>R2 Validation (training data): 84.23%</a:t>
            </a:r>
          </a:p>
          <a:p>
            <a:r>
              <a:rPr lang="en-US" sz="2000" dirty="0"/>
              <a:t>R2 Prediction (real life data): my guess is ~84%</a:t>
            </a:r>
          </a:p>
          <a:p>
            <a:r>
              <a:rPr lang="en-US" sz="2000" dirty="0"/>
              <a:t>RMSE: 1233 euros average error per prediction</a:t>
            </a:r>
          </a:p>
          <a:p>
            <a:r>
              <a:rPr lang="en-US" sz="2000" b="1" dirty="0"/>
              <a:t>Alternatives tried:</a:t>
            </a:r>
          </a:p>
          <a:p>
            <a:r>
              <a:rPr lang="en-US" sz="2000" dirty="0"/>
              <a:t>Linear Regression (R2: 73.66%) </a:t>
            </a:r>
          </a:p>
          <a:p>
            <a:r>
              <a:rPr lang="en-US" sz="2000" dirty="0"/>
              <a:t>Random Forest (R2: 81.08%)</a:t>
            </a:r>
          </a:p>
        </p:txBody>
      </p:sp>
    </p:spTree>
    <p:extLst>
      <p:ext uri="{BB962C8B-B14F-4D97-AF65-F5344CB8AC3E}">
        <p14:creationId xmlns:p14="http://schemas.microsoft.com/office/powerpoint/2010/main" val="1059897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A37DD-20C1-5C1C-B2D4-9B1040AB4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Methods (preprocessing)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85543-BAEE-863C-37C8-06656B914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173511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1. Dropped Unnamed: 0: </a:t>
            </a:r>
            <a:r>
              <a:rPr lang="en-US" dirty="0"/>
              <a:t>Row identifier only - no predictive value</a:t>
            </a:r>
          </a:p>
          <a:p>
            <a:pPr>
              <a:lnSpc>
                <a:spcPct val="150000"/>
              </a:lnSpc>
            </a:pPr>
            <a:r>
              <a:rPr lang="en-US" b="1" dirty="0"/>
              <a:t>2. Date feature extraction: </a:t>
            </a:r>
            <a:r>
              <a:rPr lang="en-US" dirty="0"/>
              <a:t>String </a:t>
            </a:r>
            <a:r>
              <a:rPr lang="en-US" sz="2000" dirty="0"/>
              <a:t>date</a:t>
            </a:r>
            <a:r>
              <a:rPr lang="en-US" dirty="0"/>
              <a:t> split into: year, month, day, week, </a:t>
            </a:r>
            <a:r>
              <a:rPr lang="en-US" dirty="0" err="1"/>
              <a:t>is_weekend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3. </a:t>
            </a:r>
            <a:r>
              <a:rPr lang="en-US" b="1" dirty="0" err="1"/>
              <a:t>state_holiday</a:t>
            </a:r>
            <a:r>
              <a:rPr lang="en-US" b="1" dirty="0"/>
              <a:t> One-Hot Encoded: </a:t>
            </a:r>
            <a:r>
              <a:rPr lang="en-US" dirty="0"/>
              <a:t>Values: 0 (621K), a-public (12.8K), b-easter (4.2K), c-</a:t>
            </a:r>
            <a:r>
              <a:rPr lang="en-US" dirty="0" err="1"/>
              <a:t>xmas</a:t>
            </a:r>
            <a:r>
              <a:rPr lang="en-US" dirty="0"/>
              <a:t> (2.6K)</a:t>
            </a:r>
          </a:p>
          <a:p>
            <a:pPr>
              <a:lnSpc>
                <a:spcPct val="150000"/>
              </a:lnSpc>
            </a:pPr>
            <a:r>
              <a:rPr lang="en-US" b="1" dirty="0"/>
              <a:t>4. Removed closed stores: </a:t>
            </a:r>
            <a:r>
              <a:rPr lang="en-US" dirty="0"/>
              <a:t>108,824 rows (open=0 always sales=0)</a:t>
            </a:r>
          </a:p>
        </p:txBody>
      </p:sp>
    </p:spTree>
    <p:extLst>
      <p:ext uri="{BB962C8B-B14F-4D97-AF65-F5344CB8AC3E}">
        <p14:creationId xmlns:p14="http://schemas.microsoft.com/office/powerpoint/2010/main" val="4203737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A37DD-20C1-5C1C-B2D4-9B1040AB4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Methods (models)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85543-BAEE-863C-37C8-06656B914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9867181" cy="4351338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Model 1: Linear Regression</a:t>
            </a:r>
          </a:p>
          <a:p>
            <a:r>
              <a:rPr lang="en-US" dirty="0"/>
              <a:t>R2 Train: 73.50% | R2 Val: 73.66% | RMSE: 1594 | Diff: -0.0016</a:t>
            </a:r>
          </a:p>
          <a:p>
            <a:r>
              <a:rPr lang="en-US" dirty="0"/>
              <a:t>Baseline model. Fast but assumes linear relationships.</a:t>
            </a:r>
          </a:p>
          <a:p>
            <a:r>
              <a:rPr lang="en-US" b="1" dirty="0"/>
              <a:t>Model 2: </a:t>
            </a:r>
            <a:r>
              <a:rPr lang="en-US" b="1" dirty="0" err="1"/>
              <a:t>XGBoost</a:t>
            </a:r>
            <a:r>
              <a:rPr lang="en-US" b="1" dirty="0"/>
              <a:t> (WINNER)</a:t>
            </a:r>
          </a:p>
          <a:p>
            <a:r>
              <a:rPr lang="en-US" dirty="0"/>
              <a:t>R2 Train: 84.56% | R2 Val: 84.23% | RMSE: 1233 | Diff: 0.0033</a:t>
            </a:r>
          </a:p>
          <a:p>
            <a:r>
              <a:rPr lang="en-US" dirty="0"/>
              <a:t>Best R2 Validation + best RMSE + smallest R2 Difference (no overfit)</a:t>
            </a:r>
          </a:p>
          <a:p>
            <a:r>
              <a:rPr lang="en-US" b="1" dirty="0"/>
              <a:t>Model 3: Random Forest</a:t>
            </a:r>
          </a:p>
          <a:p>
            <a:r>
              <a:rPr lang="en-US" dirty="0"/>
              <a:t>R2 Train: 81.70% | R2 Val: 81.08% | RMSE: 1351 | Diff: 0.0062</a:t>
            </a:r>
          </a:p>
          <a:p>
            <a:r>
              <a:rPr lang="en-US" dirty="0"/>
              <a:t>Strong but slightly more overfit than </a:t>
            </a:r>
            <a:r>
              <a:rPr lang="en-US" dirty="0" err="1"/>
              <a:t>XGBoost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876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A37DD-20C1-5C1C-B2D4-9B1040AB4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Selected model: XGBoost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85543-BAEE-863C-37C8-06656B914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09053" cy="3721160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Why </a:t>
            </a:r>
            <a:r>
              <a:rPr lang="en-US" b="1" dirty="0" err="1"/>
              <a:t>XGBoost</a:t>
            </a:r>
            <a:r>
              <a:rPr lang="en-US" b="1" dirty="0"/>
              <a:t>?</a:t>
            </a:r>
          </a:p>
          <a:p>
            <a:r>
              <a:rPr lang="en-US" dirty="0"/>
              <a:t>Gradient boosting: builds 100 trees sequentially, each correcting the previous</a:t>
            </a:r>
          </a:p>
          <a:p>
            <a:r>
              <a:rPr lang="en-US" dirty="0"/>
              <a:t>Captures non-linear relationships (promotions, seasonality, store patterns)</a:t>
            </a:r>
          </a:p>
          <a:p>
            <a:r>
              <a:rPr lang="en-US" b="1" dirty="0"/>
              <a:t>Results:</a:t>
            </a:r>
          </a:p>
          <a:p>
            <a:r>
              <a:rPr lang="en-US" dirty="0"/>
              <a:t>R2 Train: 84.56% | R2 Validation: 84.23%</a:t>
            </a:r>
          </a:p>
          <a:p>
            <a:r>
              <a:rPr lang="en-US" dirty="0"/>
              <a:t>RMSE: 1233 euros | R2 Difference: 0.0033 (excellent </a:t>
            </a:r>
            <a:r>
              <a:rPr lang="en-US" dirty="0" err="1"/>
              <a:t>generalisation</a:t>
            </a:r>
            <a:r>
              <a:rPr lang="en-US" dirty="0"/>
              <a:t>)</a:t>
            </a:r>
          </a:p>
          <a:p>
            <a:r>
              <a:rPr lang="en-US" b="1" dirty="0"/>
              <a:t>Config: </a:t>
            </a:r>
            <a:r>
              <a:rPr lang="en-US" b="1" dirty="0" err="1"/>
              <a:t>n_estimators</a:t>
            </a:r>
            <a:r>
              <a:rPr lang="en-US" b="1" dirty="0"/>
              <a:t>=100, </a:t>
            </a:r>
            <a:r>
              <a:rPr lang="en-US" b="1" dirty="0" err="1"/>
              <a:t>learning_rate</a:t>
            </a:r>
            <a:r>
              <a:rPr lang="en-US" b="1" dirty="0"/>
              <a:t>=0.1, </a:t>
            </a:r>
            <a:r>
              <a:rPr lang="en-US" b="1" dirty="0" err="1"/>
              <a:t>max_depth</a:t>
            </a:r>
            <a:r>
              <a:rPr lang="en-US" b="1" dirty="0"/>
              <a:t>=6</a:t>
            </a:r>
          </a:p>
        </p:txBody>
      </p:sp>
    </p:spTree>
    <p:extLst>
      <p:ext uri="{BB962C8B-B14F-4D97-AF65-F5344CB8AC3E}">
        <p14:creationId xmlns:p14="http://schemas.microsoft.com/office/powerpoint/2010/main" val="3828345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A37DD-20C1-5C1C-B2D4-9B1040AB4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85543-BAEE-863C-37C8-06656B914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/>
              <a:t>Conclusions:</a:t>
            </a:r>
          </a:p>
          <a:p>
            <a:r>
              <a:rPr lang="en-US"/>
              <a:t>XGBoost best model with R2=84.23% and RMSE=1233 euros</a:t>
            </a:r>
          </a:p>
          <a:p>
            <a:r>
              <a:rPr lang="en-US"/>
              <a:t>Tree-based models significantly outperform Linear Regression (+10% R2)</a:t>
            </a:r>
          </a:p>
          <a:p>
            <a:r>
              <a:rPr lang="en-US" b="1"/>
              <a:t>Challenges:</a:t>
            </a:r>
          </a:p>
          <a:p>
            <a:r>
              <a:rPr lang="en-US"/>
              <a:t>REAL_DATA had different date format (DD/MM/YYYY vs YYYY-MM-DD)</a:t>
            </a:r>
          </a:p>
          <a:p>
            <a:r>
              <a:rPr lang="en-US"/>
              <a:t>Found 1 data anomaly: open store, 5 customers, 0 sales (dropped)</a:t>
            </a:r>
          </a:p>
          <a:p>
            <a:r>
              <a:rPr lang="en-US" b="1"/>
              <a:t>Key learnings:</a:t>
            </a:r>
          </a:p>
          <a:p>
            <a:r>
              <a:rPr lang="en-US"/>
              <a:t>Knowing open=0 means sales=0 was the most important insight</a:t>
            </a:r>
          </a:p>
          <a:p>
            <a:r>
              <a:rPr lang="en-US"/>
              <a:t>Feature engineering from dates (month, week, is_weekend) boosted all models</a:t>
            </a:r>
          </a:p>
        </p:txBody>
      </p:sp>
    </p:spTree>
    <p:extLst>
      <p:ext uri="{BB962C8B-B14F-4D97-AF65-F5344CB8AC3E}">
        <p14:creationId xmlns:p14="http://schemas.microsoft.com/office/powerpoint/2010/main" val="1129822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417</Words>
  <Application>Microsoft Office PowerPoint</Application>
  <PresentationFormat>Widescreen</PresentationFormat>
  <Paragraphs>44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IRON KAGGLE</vt:lpstr>
      <vt:lpstr>Executive summary</vt:lpstr>
      <vt:lpstr>Methods (preprocessing)</vt:lpstr>
      <vt:lpstr>Methods (models)</vt:lpstr>
      <vt:lpstr>Selected model: XGBoost</vt:lpstr>
      <vt:lpstr>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Carlos Fenollosa</dc:creator>
  <cp:lastModifiedBy>S Z</cp:lastModifiedBy>
  <cp:revision>11</cp:revision>
  <dcterms:created xsi:type="dcterms:W3CDTF">2024-10-03T09:08:22Z</dcterms:created>
  <dcterms:modified xsi:type="dcterms:W3CDTF">2026-04-10T15:57:15Z</dcterms:modified>
</cp:coreProperties>
</file>